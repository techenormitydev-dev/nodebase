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720000">
            <a:off x="-274320" y="-914400"/>
            <a:ext cx="502920" cy="91440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720000">
            <a:off x="502920" y="-914400"/>
            <a:ext cx="502920" cy="9144000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720000">
            <a:off x="1234440" y="-914400"/>
            <a:ext cx="502920" cy="9144000"/>
          </a:xfrm>
          <a:prstGeom prst="rect">
            <a:avLst/>
          </a:prstGeom>
          <a:solidFill>
            <a:srgbClr val="FFBC7D"/>
          </a:solidFill>
          <a:ln w="12700">
            <a:solidFill>
              <a:srgbClr val="FFBC7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C2E"/>
          </a:solidFill>
          <a:ln w="12700">
            <a:solidFill>
              <a:srgbClr val="1A1C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71600" y="1463040"/>
            <a:ext cx="9445752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Mindflow</a:t>
            </a:r>
            <a:endParaRPr lang="en-US" sz="7200" dirty="0"/>
          </a:p>
        </p:txBody>
      </p:sp>
      <p:sp>
        <p:nvSpPr>
          <p:cNvPr id="8" name="Shape 6"/>
          <p:cNvSpPr/>
          <p:nvPr/>
        </p:nvSpPr>
        <p:spPr>
          <a:xfrm>
            <a:off x="4114800" y="2743200"/>
            <a:ext cx="3959352" cy="6400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926080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97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AI-Native Visual Workflow Automation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86000" y="3566160"/>
            <a:ext cx="761695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Build automations between your tools visually.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Execute reliably. No code required.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3776" y="4754880"/>
            <a:ext cx="150876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BC7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477316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C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093976" y="4754880"/>
            <a:ext cx="1193292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BC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85416" y="4773168"/>
            <a:ext cx="10104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C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Inngest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94176" y="4754880"/>
            <a:ext cx="150876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BC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477316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C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Flow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94376" y="4754880"/>
            <a:ext cx="109728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BC7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85816" y="47731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C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tRPC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894576" y="4754880"/>
            <a:ext cx="109728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BC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86016" y="4773168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C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Polar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494776" y="4754880"/>
            <a:ext cx="1613916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BC7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86216" y="4773168"/>
            <a:ext cx="14310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C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Auth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10094976" y="4754880"/>
            <a:ext cx="1824228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BC7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86416" y="4773168"/>
            <a:ext cx="16413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C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AI SDK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112745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Solo · Production-Ready SaaS · Full-Stack TypeScript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613916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"/>
            <a:ext cx="143103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SMBs waste hours on tasks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that should take seconds.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Teams are stuck copy-pasting data between tools, manually following up leads, and running repetitive workflows — with no automation in place.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92240" y="594360"/>
            <a:ext cx="5212080" cy="11887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92240" y="594360"/>
            <a:ext cx="64008" cy="1188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720840" y="68580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✋  Manual Data Entry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20840" y="103327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Copy-pasting between CRM, spreadsheets, and email wastes 2–3 hours daily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1920240"/>
            <a:ext cx="5212080" cy="11887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1920240"/>
            <a:ext cx="64008" cy="1188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20840" y="201168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⏰  Slow Lead Response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720840" y="235915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Leads go cold because no one set up automatic qualification or follow-up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3246120"/>
            <a:ext cx="5212080" cy="11887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92240" y="3246120"/>
            <a:ext cx="64008" cy="1188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720840" y="333756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🔁  Repetitive Tasks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720840" y="368503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Weekly reports, reminders, and notifications built by hand, every 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92240" y="4572000"/>
            <a:ext cx="5212080" cy="11887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92240" y="4572000"/>
            <a:ext cx="64008" cy="1188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4663440"/>
            <a:ext cx="4754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 Tool Silos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5010912"/>
            <a:ext cx="475488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Zapier/Make cost $100–400/month and don't support AI-powered decisions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719072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914400" y="59436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Mindflow connects your tools and runs</a:t>
            </a:r>
            <a:endParaRPr lang="en-US" sz="3400" dirty="0"/>
          </a:p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automations — powered by AI.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3200400" y="1828800"/>
            <a:ext cx="5788152" cy="54864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011680"/>
            <a:ext cx="3520440" cy="429768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3520440" cy="54864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🎨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23444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Visual Builder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85800" y="283464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Drag-and-drop canvas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React Flow powered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14 ready-made node types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Connect any trigger to any action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389120" y="2011680"/>
            <a:ext cx="3520440" cy="429768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89120" y="2011680"/>
            <a:ext cx="3520440" cy="54864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516636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AI-Powered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617720" y="283464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Anthropic Claude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OpenAI GPT-4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Google Gemini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AI decides, not just routes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8321040" y="2011680"/>
            <a:ext cx="3520440" cy="429768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0" y="2011680"/>
            <a:ext cx="3520440" cy="54864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503920" y="21488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🚀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9098280" y="21488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549640" y="2834640"/>
            <a:ext cx="30632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Auth &amp; subscription billing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Encrypted credential vault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Durable execution (Inngest)</a:t>
            </a:r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 ✓  Real-time status per node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2244852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"/>
            <a:ext cx="20619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OVERVIEW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complete automation canvas — built for AI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6858000" cy="5120640"/>
          </a:xfrm>
          <a:prstGeom prst="rect">
            <a:avLst/>
          </a:prstGeom>
          <a:solidFill>
            <a:srgbClr val="1A1F3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71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Workflow Canvas (React Flow)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14400" y="1920240"/>
            <a:ext cx="1737360" cy="502920"/>
          </a:xfrm>
          <a:prstGeom prst="rect">
            <a:avLst/>
          </a:prstGeom>
          <a:solidFill>
            <a:srgbClr val="2D3548"/>
          </a:solidFill>
          <a:ln w="19050">
            <a:solidFill>
              <a:srgbClr val="FF7A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Cron Trigger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017520" y="1920240"/>
            <a:ext cx="1737360" cy="502920"/>
          </a:xfrm>
          <a:prstGeom prst="rect">
            <a:avLst/>
          </a:prstGeom>
          <a:solidFill>
            <a:srgbClr val="2D3548"/>
          </a:solidFill>
          <a:ln w="19050">
            <a:solidFill>
              <a:srgbClr val="FF973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0896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🤖 Claude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1920240"/>
            <a:ext cx="1737360" cy="502920"/>
          </a:xfrm>
          <a:prstGeom prst="rect">
            <a:avLst/>
          </a:prstGeom>
          <a:solidFill>
            <a:srgbClr val="2D354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9202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✅ Conditional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017520" y="3200400"/>
            <a:ext cx="1737360" cy="502920"/>
          </a:xfrm>
          <a:prstGeom prst="rect">
            <a:avLst/>
          </a:prstGeom>
          <a:solidFill>
            <a:srgbClr val="2D354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0896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 Slack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200400"/>
            <a:ext cx="1737360" cy="502920"/>
          </a:xfrm>
          <a:prstGeom prst="rect">
            <a:avLst/>
          </a:prstGeom>
          <a:solidFill>
            <a:srgbClr val="2D354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20640" y="320040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🌐 HTTP Request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017520" y="4389120"/>
            <a:ext cx="1737360" cy="502920"/>
          </a:xfrm>
          <a:prstGeom prst="rect">
            <a:avLst/>
          </a:prstGeom>
          <a:solidFill>
            <a:srgbClr val="2D3548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08960" y="4389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⚠️ Error Handler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651760" y="2176272"/>
            <a:ext cx="36576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22" name="Shape 20"/>
          <p:cNvSpPr/>
          <p:nvPr/>
        </p:nvSpPr>
        <p:spPr>
          <a:xfrm>
            <a:off x="4754880" y="2176272"/>
            <a:ext cx="27432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3886200" y="2423160"/>
            <a:ext cx="0" cy="77724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5897880" y="2423160"/>
            <a:ext cx="0" cy="777240"/>
          </a:xfrm>
          <a:prstGeom prst="line">
            <a:avLst/>
          </a:prstGeom>
          <a:noFill/>
          <a:ln w="25400">
            <a:solidFill>
              <a:srgbClr val="3B82F6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2578608" y="205740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81728" y="205740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93408" y="2057400"/>
            <a:ext cx="164592" cy="16459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89520" y="1280160"/>
            <a:ext cx="4206240" cy="150876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0" y="1280160"/>
            <a:ext cx="64008" cy="150876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18120" y="141732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</a:t>
            </a:r>
            <a:endParaRPr lang="en-US" sz="4800" dirty="0"/>
          </a:p>
        </p:txBody>
      </p:sp>
      <p:sp>
        <p:nvSpPr>
          <p:cNvPr id="31" name="Text 29"/>
          <p:cNvSpPr/>
          <p:nvPr/>
        </p:nvSpPr>
        <p:spPr>
          <a:xfrm>
            <a:off x="9006840" y="14630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Types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006840" y="187452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 · AI · Actions · Logic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589520" y="2926080"/>
            <a:ext cx="4206240" cy="150876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589520" y="2926080"/>
            <a:ext cx="64008" cy="1508760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818120" y="306324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97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4800" dirty="0"/>
          </a:p>
        </p:txBody>
      </p:sp>
      <p:sp>
        <p:nvSpPr>
          <p:cNvPr id="36" name="Text 34"/>
          <p:cNvSpPr/>
          <p:nvPr/>
        </p:nvSpPr>
        <p:spPr>
          <a:xfrm>
            <a:off x="9006840" y="310896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Providers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9006840" y="35204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· OpenAI · Gemini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89520" y="4572000"/>
            <a:ext cx="4206240" cy="150876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589520" y="4572000"/>
            <a:ext cx="64008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18120" y="4709160"/>
            <a:ext cx="1097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∞</a:t>
            </a:r>
            <a:endParaRPr lang="en-US" sz="4800" dirty="0"/>
          </a:p>
        </p:txBody>
      </p:sp>
      <p:sp>
        <p:nvSpPr>
          <p:cNvPr id="41" name="Text 39"/>
          <p:cNvSpPr/>
          <p:nvPr/>
        </p:nvSpPr>
        <p:spPr>
          <a:xfrm>
            <a:off x="9006840" y="47548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Status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9006840" y="51663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 per-node execution updates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719072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"/>
            <a:ext cx="15361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LIBRARY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pre-built nodes — connect anything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51760" cy="411480"/>
          </a:xfrm>
          <a:prstGeom prst="rect">
            <a:avLst/>
          </a:prstGeom>
          <a:solidFill>
            <a:srgbClr val="2D18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Triggers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64008" cy="9601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20299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Trigger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66928" y="23774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Run on demand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97180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971800"/>
            <a:ext cx="64008" cy="9601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30815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 Schedule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34290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e.g. every Monday 9am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402336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4023360"/>
            <a:ext cx="64008" cy="9601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" y="41330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Form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6928" y="44805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form submission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507492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5074920"/>
            <a:ext cx="64008" cy="9601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518464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Webhook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66928" y="55321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 payment events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1371600"/>
            <a:ext cx="2651760" cy="411480"/>
          </a:xfrm>
          <a:prstGeom prst="rect">
            <a:avLst/>
          </a:prstGeom>
          <a:solidFill>
            <a:srgbClr val="2D2300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Models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383280" y="192024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383280" y="1920240"/>
            <a:ext cx="64008" cy="960120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20299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Claude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584448" y="23774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claude-sonnet-4-5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383280" y="297180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0" y="2971800"/>
            <a:ext cx="64008" cy="960120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84448" y="30815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GPT-4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84448" y="34290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gpt-4 model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383280" y="402336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383280" y="4023360"/>
            <a:ext cx="64008" cy="960120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584448" y="41330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584448" y="44805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gemini-2.0-flash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55080" y="1371600"/>
            <a:ext cx="2651760" cy="411480"/>
          </a:xfrm>
          <a:prstGeom prst="rect">
            <a:avLst/>
          </a:prstGeom>
          <a:solidFill>
            <a:srgbClr val="0E1A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4652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Actions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55080" y="192024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55080" y="192024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56248" y="20299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 Message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6556248" y="23774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to channel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355080" y="297180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355080" y="297180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56248" y="30815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Discord Message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556248" y="34290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 to webhook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355080" y="402336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355080" y="402336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56248" y="413308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Request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6556248" y="448056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GET/POST/PUT/DELETE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355080" y="507492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355080" y="5074920"/>
            <a:ext cx="64008" cy="9601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556248" y="518464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 Handler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556248" y="553212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Catch &amp; notify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9326880" y="1371600"/>
            <a:ext cx="2651760" cy="411480"/>
          </a:xfrm>
          <a:prstGeom prst="rect">
            <a:avLst/>
          </a:prstGeom>
          <a:solidFill>
            <a:srgbClr val="1A10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18320" y="1371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9326880" y="192024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326880" y="1920240"/>
            <a:ext cx="64008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528048" y="202996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9528048" y="237744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If / else branching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326880" y="2971800"/>
            <a:ext cx="2651760" cy="96012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326880" y="2971800"/>
            <a:ext cx="64008" cy="9601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28048" y="3081528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9528048" y="3429000"/>
            <a:ext cx="233172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JSONata expressions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2139696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ENGINE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workflow runs with durable, real-time execution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645920"/>
            <a:ext cx="2011680" cy="822960"/>
          </a:xfrm>
          <a:prstGeom prst="rect">
            <a:avLst/>
          </a:prstGeom>
          <a:solidFill>
            <a:srgbClr val="2D3548"/>
          </a:solidFill>
          <a:ln w="19050">
            <a:solidFill>
              <a:srgbClr val="FF7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Trigger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Manual / Webhook / Cron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1645920"/>
            <a:ext cx="2011680" cy="822960"/>
          </a:xfrm>
          <a:prstGeom prst="rect">
            <a:avLst/>
          </a:prstGeom>
          <a:solidFill>
            <a:srgbClr val="2D3548"/>
          </a:solidFill>
          <a:ln w="19050">
            <a:solidFill>
              <a:srgbClr val="FF973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8892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Inngest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Event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`workflows/execute.workflow`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1645920"/>
            <a:ext cx="2011680" cy="822960"/>
          </a:xfrm>
          <a:prstGeom prst="rect">
            <a:avLst/>
          </a:prstGeom>
          <a:solidFill>
            <a:srgbClr val="2D3548"/>
          </a:solidFill>
          <a:ln w="19050">
            <a:solidFill>
              <a:srgbClr val="FFBC7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2064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Topo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DAG ordered execution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360920" y="1645920"/>
            <a:ext cx="2011680" cy="822960"/>
          </a:xfrm>
          <a:prstGeom prst="rect">
            <a:avLst/>
          </a:prstGeom>
          <a:solidFill>
            <a:srgbClr val="2D354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5236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Node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Executors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360920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updates context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692640" y="1645920"/>
            <a:ext cx="2011680" cy="822960"/>
          </a:xfrm>
          <a:prstGeom prst="rect">
            <a:avLst/>
          </a:prstGeom>
          <a:solidFill>
            <a:srgbClr val="2D354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0" y="164592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Result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Stored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92640" y="2542032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DB + realtime publish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77440" y="2057400"/>
            <a:ext cx="32004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23" name="Shape 21"/>
          <p:cNvSpPr/>
          <p:nvPr/>
        </p:nvSpPr>
        <p:spPr>
          <a:xfrm>
            <a:off x="4709160" y="2057400"/>
            <a:ext cx="32004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7040880" y="2057400"/>
            <a:ext cx="32004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25" name="Shape 23"/>
          <p:cNvSpPr/>
          <p:nvPr/>
        </p:nvSpPr>
        <p:spPr>
          <a:xfrm>
            <a:off x="9372600" y="2057400"/>
            <a:ext cx="32004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26" name="Shape 24"/>
          <p:cNvSpPr/>
          <p:nvPr/>
        </p:nvSpPr>
        <p:spPr>
          <a:xfrm>
            <a:off x="365760" y="3337560"/>
            <a:ext cx="5486400" cy="3108960"/>
          </a:xfrm>
          <a:prstGeom prst="rect">
            <a:avLst/>
          </a:prstGeom>
          <a:solidFill>
            <a:srgbClr val="252B3B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337560"/>
            <a:ext cx="5486400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94360" y="3429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Context Accumulation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94360" y="37947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Each node writes output to a shared context object.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Downstream nodes access it via Handlebars templates.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48640" y="4663440"/>
            <a:ext cx="512064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31520" y="475488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...context, [variableName]: { text: aiResult } 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Next node: "{{myAI.text}}"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81928" y="3337560"/>
            <a:ext cx="5486400" cy="3108960"/>
          </a:xfrm>
          <a:prstGeom prst="rect">
            <a:avLst/>
          </a:prstGeom>
          <a:solidFill>
            <a:srgbClr val="252B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81928" y="3337560"/>
            <a:ext cx="548640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10528" y="342900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Branching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510528" y="37947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 nodes record which branch was taken.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Unreachable downstream nodes are automatically skipped.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64808" y="4663440"/>
            <a:ext cx="5120640" cy="1508760"/>
          </a:xfrm>
          <a:prstGeom prst="rect">
            <a:avLst/>
          </a:prstGeom>
          <a:solidFill>
            <a:srgbClr val="11182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647688" y="4754880"/>
            <a:ext cx="4754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context.__conditional_nodeId = 'true' | 'false'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A5F3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Skipped nodes don't execute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2875788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"/>
            <a:ext cx="26929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BUSINESS WORKFLOWS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automations you can build in minutes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417320"/>
            <a:ext cx="11457432" cy="1508760"/>
          </a:xfrm>
          <a:prstGeom prst="rect">
            <a:avLst/>
          </a:prstGeom>
          <a:solidFill>
            <a:srgbClr val="252B3B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417320"/>
            <a:ext cx="64008" cy="150876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5270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Lead Qualification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19202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 lead submits your form → Claude qualifies them → team gets a Slack summary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931920" y="187452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FF7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0" y="1874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Form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623560" y="2148840"/>
            <a:ext cx="27432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5897880" y="187452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FF97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1874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Claude 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7589520" y="2148840"/>
            <a:ext cx="27432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7863840" y="187452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55280" y="1874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Conditional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555480" y="2148840"/>
            <a:ext cx="27432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9829800" y="187452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1874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 Alert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11457432" cy="1508760"/>
          </a:xfrm>
          <a:prstGeom prst="rect">
            <a:avLst/>
          </a:prstGeom>
          <a:solidFill>
            <a:srgbClr val="252B3B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65760" y="3154680"/>
            <a:ext cx="64008" cy="1508760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26440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Payment Processing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94360" y="365760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Stripe payment fires → update your CRM via HTTP → notify the team on Discord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931920" y="361188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FF973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23360" y="36118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Stripe Webhook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623560" y="3886200"/>
            <a:ext cx="27432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29" name="Shape 27"/>
          <p:cNvSpPr/>
          <p:nvPr/>
        </p:nvSpPr>
        <p:spPr>
          <a:xfrm>
            <a:off x="5897880" y="361188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89320" y="36118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589520" y="3886200"/>
            <a:ext cx="27432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32" name="Shape 30"/>
          <p:cNvSpPr/>
          <p:nvPr/>
        </p:nvSpPr>
        <p:spPr>
          <a:xfrm>
            <a:off x="7863840" y="361188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55280" y="36118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Request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555480" y="3886200"/>
            <a:ext cx="27432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35" name="Shape 33"/>
          <p:cNvSpPr/>
          <p:nvPr/>
        </p:nvSpPr>
        <p:spPr>
          <a:xfrm>
            <a:off x="9829800" y="361188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7289D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921240" y="361188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Discord Alert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846320"/>
            <a:ext cx="11457432" cy="1508760"/>
          </a:xfrm>
          <a:prstGeom prst="rect">
            <a:avLst/>
          </a:prstGeom>
          <a:solidFill>
            <a:srgbClr val="252B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846320"/>
            <a:ext cx="64008" cy="15087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94360" y="49560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Scheduled Reporting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594360" y="5349240"/>
            <a:ext cx="30175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Monday at 9am → fetch analytics → reshape with JSONata → post digest to Slack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931920" y="530352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023360" y="5303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 Trigger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623560" y="5577840"/>
            <a:ext cx="27432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44" name="Shape 42"/>
          <p:cNvSpPr/>
          <p:nvPr/>
        </p:nvSpPr>
        <p:spPr>
          <a:xfrm>
            <a:off x="5897880" y="530352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989320" y="5303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 Request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7589520" y="5577840"/>
            <a:ext cx="27432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47" name="Shape 45"/>
          <p:cNvSpPr/>
          <p:nvPr/>
        </p:nvSpPr>
        <p:spPr>
          <a:xfrm>
            <a:off x="7863840" y="530352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8B5C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955280" y="5303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555480" y="5577840"/>
            <a:ext cx="274320" cy="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  <a:tailEnd type="arrow"/>
          </a:ln>
        </p:spPr>
      </p:sp>
      <p:sp>
        <p:nvSpPr>
          <p:cNvPr id="50" name="Shape 48"/>
          <p:cNvSpPr/>
          <p:nvPr/>
        </p:nvSpPr>
        <p:spPr>
          <a:xfrm>
            <a:off x="9829800" y="5303520"/>
            <a:ext cx="1691640" cy="548640"/>
          </a:xfrm>
          <a:prstGeom prst="rect">
            <a:avLst/>
          </a:prstGeom>
          <a:solidFill>
            <a:srgbClr val="2D3548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921240" y="530352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Slack Report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2770632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TypeScript — every layer type-safe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11457432" cy="1188720"/>
          </a:xfrm>
          <a:prstGeom prst="rect">
            <a:avLst/>
          </a:prstGeom>
          <a:solidFill>
            <a:srgbClr val="252B3B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1145743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630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Layer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834640" y="1463040"/>
            <a:ext cx="0" cy="9144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63240" y="1764792"/>
            <a:ext cx="2665476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783080"/>
            <a:ext cx="24825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15 App Router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865876" y="1764792"/>
            <a:ext cx="2665476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57316" y="1783080"/>
            <a:ext cx="248259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 + TypeScript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68512" y="1764792"/>
            <a:ext cx="2244852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59952" y="1783080"/>
            <a:ext cx="20619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Flow Canvas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1050524" y="1764792"/>
            <a:ext cx="3191256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141964" y="1783080"/>
            <a:ext cx="300837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v4 + Radix UI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4378940" y="1764792"/>
            <a:ext cx="1929384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4470380" y="1783080"/>
            <a:ext cx="1746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TanStack Query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445484" y="1764792"/>
            <a:ext cx="109728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536924" y="1783080"/>
            <a:ext cx="914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Jotai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089904" y="2514600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24" name="Shape 22"/>
          <p:cNvSpPr/>
          <p:nvPr/>
        </p:nvSpPr>
        <p:spPr>
          <a:xfrm>
            <a:off x="365760" y="2743200"/>
            <a:ext cx="11457432" cy="1188720"/>
          </a:xfrm>
          <a:prstGeom prst="rect">
            <a:avLst/>
          </a:prstGeom>
          <a:solidFill>
            <a:srgbClr val="252B3B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43200"/>
            <a:ext cx="11457432" cy="45720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8803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7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 Layer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834640" y="2880360"/>
            <a:ext cx="0" cy="9144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3240" y="3182112"/>
            <a:ext cx="256032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54680" y="3200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7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tRPC v11 (type-safe)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760720" y="3182112"/>
            <a:ext cx="1929384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2160" y="3200400"/>
            <a:ext cx="1746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7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Actions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827264" y="3182112"/>
            <a:ext cx="256032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918704" y="32004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7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Auth sessions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10524744" y="3182112"/>
            <a:ext cx="2875788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0616184" y="3200400"/>
            <a:ext cx="26929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7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Polar subscription gate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13537692" y="3182112"/>
            <a:ext cx="1929384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629132" y="3200400"/>
            <a:ext cx="1746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7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Zod validation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9904" y="3931920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39" name="Shape 37"/>
          <p:cNvSpPr/>
          <p:nvPr/>
        </p:nvSpPr>
        <p:spPr>
          <a:xfrm>
            <a:off x="365760" y="4114800"/>
            <a:ext cx="11457432" cy="1188720"/>
          </a:xfrm>
          <a:prstGeom prst="rect">
            <a:avLst/>
          </a:prstGeom>
          <a:solidFill>
            <a:srgbClr val="252B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65760" y="4114800"/>
            <a:ext cx="11457432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42519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Engine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834640" y="4251960"/>
            <a:ext cx="0" cy="9144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063240" y="4553712"/>
            <a:ext cx="2244852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154680" y="4572000"/>
            <a:ext cx="20619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Inngest functions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445252" y="4553712"/>
            <a:ext cx="2770632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536692" y="4572000"/>
            <a:ext cx="25877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Topological sort (DAG)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353044" y="4553712"/>
            <a:ext cx="2350008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444484" y="4572000"/>
            <a:ext cx="2167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channels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10840212" y="4553712"/>
            <a:ext cx="203454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31652" y="457200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Step durability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3011912" y="4553712"/>
            <a:ext cx="1929384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3103352" y="4572000"/>
            <a:ext cx="174650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Sentry tracing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89904" y="5303520"/>
            <a:ext cx="0" cy="182880"/>
          </a:xfrm>
          <a:prstGeom prst="line">
            <a:avLst/>
          </a:prstGeom>
          <a:noFill/>
          <a:ln w="12700">
            <a:solidFill>
              <a:srgbClr val="94A3B8"/>
            </a:solidFill>
            <a:prstDash val="solid"/>
            <a:tailEnd type="arrow"/>
          </a:ln>
        </p:spPr>
      </p:sp>
      <p:sp>
        <p:nvSpPr>
          <p:cNvPr id="54" name="Shape 52"/>
          <p:cNvSpPr/>
          <p:nvPr/>
        </p:nvSpPr>
        <p:spPr>
          <a:xfrm>
            <a:off x="365760" y="5486400"/>
            <a:ext cx="11457432" cy="1188720"/>
          </a:xfrm>
          <a:prstGeom prst="rect">
            <a:avLst/>
          </a:prstGeom>
          <a:solidFill>
            <a:srgbClr val="252B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65760" y="5486400"/>
            <a:ext cx="11457432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562356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Layer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834640" y="5623560"/>
            <a:ext cx="0" cy="91440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3063240" y="5925312"/>
            <a:ext cx="150876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154680" y="5943600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ORM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709160" y="5925312"/>
            <a:ext cx="2244852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5943600"/>
            <a:ext cx="20619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 (Neon)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091172" y="5925312"/>
            <a:ext cx="2244852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182612" y="5943600"/>
            <a:ext cx="206197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Cryptr encryption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9473184" y="5925312"/>
            <a:ext cx="256032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564624" y="5943600"/>
            <a:ext cx="23774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Handlebars templates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2170664" y="5925312"/>
            <a:ext cx="2350008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2262104" y="5943600"/>
            <a:ext cx="216712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JSONata transforms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2139696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"/>
            <a:ext cx="195681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PRODUCTION-READY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like a real SaaS — not a tutorial project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3474720" cy="2423160"/>
          </a:xfrm>
          <a:prstGeom prst="rect">
            <a:avLst/>
          </a:prstGeom>
          <a:solidFill>
            <a:srgbClr val="252B3B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3474720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4356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🔐  Better Auth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19202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Email + password auth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GitHub &amp; Google OAuth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session adapter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per-MAU pricing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69664" y="1325880"/>
            <a:ext cx="3474720" cy="2423160"/>
          </a:xfrm>
          <a:prstGeom prst="rect">
            <a:avLst/>
          </a:prstGeom>
          <a:solidFill>
            <a:srgbClr val="252B3B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69664" y="1325880"/>
            <a:ext cx="3474720" cy="45720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52544" y="14356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💳  Polar Billing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52544" y="19202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Subscription management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`premiumProcedure` tRPC gate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API-level enforcement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One-click checkout flow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73568" y="1325880"/>
            <a:ext cx="3474720" cy="2423160"/>
          </a:xfrm>
          <a:prstGeom prst="rect">
            <a:avLst/>
          </a:prstGeom>
          <a:solidFill>
            <a:srgbClr val="252B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73568" y="1325880"/>
            <a:ext cx="347472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56448" y="143560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🔒  Credential Encryption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56448" y="192024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Cryptr AES encryption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Keys stored encrypted at rest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Decrypted only at runtime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ENCRYPTION_KEY env var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3931920"/>
            <a:ext cx="3474720" cy="2423160"/>
          </a:xfrm>
          <a:prstGeom prst="rect">
            <a:avLst/>
          </a:prstGeom>
          <a:solidFill>
            <a:srgbClr val="252B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931920"/>
            <a:ext cx="347472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0416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⚡  Inngest Durability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52628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 auto-retries in prod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`NonRetriableError` for config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onFailure handler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`step.run()` atomicity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169664" y="3931920"/>
            <a:ext cx="3474720" cy="2423160"/>
          </a:xfrm>
          <a:prstGeom prst="rect">
            <a:avLst/>
          </a:prstGeom>
          <a:solidFill>
            <a:srgbClr val="252B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69664" y="3931920"/>
            <a:ext cx="34747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52544" y="40416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 Sentry Monitoring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352544" y="452628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error tracking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AI SDK integration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Console log capture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tracesSampleRate: 1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7973568" y="3931920"/>
            <a:ext cx="3474720" cy="2423160"/>
          </a:xfrm>
          <a:prstGeom prst="rect">
            <a:avLst/>
          </a:prstGeom>
          <a:solidFill>
            <a:srgbClr val="252B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73568" y="3931920"/>
            <a:ext cx="347472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156448" y="4041648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🔴  Real-time Updates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156448" y="4526280"/>
            <a:ext cx="310896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Inngest Realtime channels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Per-node status streaming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loading → success/error</a:t>
            </a:r>
            <a:endParaRPr lang="en-US" sz="1200" dirty="0"/>
          </a:p>
          <a:p>
            <a:pPr marL="190500" indent="-1905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 polling required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50876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SOLO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From idea to production SaaS — independently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097280" y="1371600"/>
            <a:ext cx="0" cy="5120640"/>
          </a:xfrm>
          <a:prstGeom prst="line">
            <a:avLst/>
          </a:prstGeom>
          <a:noFill/>
          <a:ln w="25400">
            <a:solidFill>
              <a:srgbClr val="FF7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417320"/>
            <a:ext cx="219456" cy="219456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17320" y="137160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417320" y="166420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Chose Inngest, tRPC, React Flow — designed the executor contract pattern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87552" y="2423160"/>
            <a:ext cx="219456" cy="219456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17320" y="237744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Canvas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67004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Built React Flow canvas, node registry, variable inspector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87552" y="3429000"/>
            <a:ext cx="219456" cy="219456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338328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Executors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67588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Implemented all 14 node types: triggers, AI, actions, logic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87552" y="4434840"/>
            <a:ext cx="219456" cy="219456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438912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 + Billing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68172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Auth with OAuth, Polar subscription gating on tRPC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87552" y="5440680"/>
            <a:ext cx="219456" cy="219456"/>
          </a:xfrm>
          <a:prstGeom prst="ellipse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17320" y="5394960"/>
            <a:ext cx="4114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Production Polish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687568"/>
            <a:ext cx="4114800" cy="4754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Sentry monitoring, encryption, real-time status, error handling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943600" y="1325880"/>
            <a:ext cx="5852160" cy="1600200"/>
          </a:xfrm>
          <a:prstGeom prst="rect">
            <a:avLst/>
          </a:prstGeom>
          <a:solidFill>
            <a:srgbClr val="252B3B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0" y="1325880"/>
            <a:ext cx="64008" cy="160020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72200" y="146304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Inngest over custom queues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172200" y="182880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Durability, retries, and real-time channels out-of-the-box. No Redis or BullMQ infra to manage.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943600" y="3108960"/>
            <a:ext cx="5852160" cy="1600200"/>
          </a:xfrm>
          <a:prstGeom prst="rect">
            <a:avLst/>
          </a:prstGeom>
          <a:solidFill>
            <a:srgbClr val="252B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3108960"/>
            <a:ext cx="64008" cy="16002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72200" y="324612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tRPC over REST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172200" y="361188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TypeScript types between server and client. TypeScript becomes the API documentation.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943600" y="4892040"/>
            <a:ext cx="5852160" cy="1600200"/>
          </a:xfrm>
          <a:prstGeom prst="rect">
            <a:avLst/>
          </a:prstGeom>
          <a:solidFill>
            <a:srgbClr val="252B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4892040"/>
            <a:ext cx="64008" cy="16002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50292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Auth over Clerk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72200" y="53949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control, self-hosted, no per-MAU pricing. Pairs cleanly with Polar for billing.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BC7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"Every architectural decision was made deliberately — balancing DX, cost, and production reliability."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50876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"/>
            <a:ext cx="13258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 STACK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Modern, production-grade TypeScript stack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743200" cy="411480"/>
          </a:xfrm>
          <a:prstGeom prst="rect">
            <a:avLst/>
          </a:prstGeom>
          <a:solidFill>
            <a:srgbClr val="2D18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920240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920240"/>
            <a:ext cx="64008" cy="6583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192024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Next.js 15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2670048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670048"/>
            <a:ext cx="64008" cy="6583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67004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19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3419856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3419856"/>
            <a:ext cx="64008" cy="6583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341985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TypeScript 5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4169664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65760" y="4169664"/>
            <a:ext cx="64008" cy="6583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169664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Tailwind CSS v4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4919472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919472"/>
            <a:ext cx="64008" cy="6583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9194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Radix UI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5669280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5669280"/>
            <a:ext cx="64008" cy="658368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566928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Flow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91840" y="1371600"/>
            <a:ext cx="2743200" cy="411480"/>
          </a:xfrm>
          <a:prstGeom prst="rect">
            <a:avLst/>
          </a:prstGeom>
          <a:solidFill>
            <a:srgbClr val="2D2300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8328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&amp; API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291840" y="1920240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91840" y="1920240"/>
            <a:ext cx="64008" cy="658368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93008" y="192024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tRPC v11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91840" y="2670048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291840" y="2670048"/>
            <a:ext cx="64008" cy="658368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93008" y="267004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Better Auth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419856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291840" y="3419856"/>
            <a:ext cx="64008" cy="658368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93008" y="341985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Polar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291840" y="4169664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291840" y="4169664"/>
            <a:ext cx="64008" cy="658368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93008" y="4169664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Zod v4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3291840" y="4919472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91840" y="4919472"/>
            <a:ext cx="64008" cy="658368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493008" y="49194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 Actions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172200" y="1371600"/>
            <a:ext cx="2743200" cy="411480"/>
          </a:xfrm>
          <a:prstGeom prst="rect">
            <a:avLst/>
          </a:prstGeom>
          <a:solidFill>
            <a:srgbClr val="0E1A3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6364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Execution &amp; DB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6172200" y="1920240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72200" y="1920240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73368" y="192024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Inngest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6172200" y="2670048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172200" y="2670048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73368" y="267004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 ORM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172200" y="3419856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72200" y="3419856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73368" y="341985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172200" y="4169664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72200" y="4169664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73368" y="4169664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Neon DB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172200" y="4919472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172200" y="4919472"/>
            <a:ext cx="64008" cy="65836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73368" y="49194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Cryptr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9052560" y="1371600"/>
            <a:ext cx="2743200" cy="411480"/>
          </a:xfrm>
          <a:prstGeom prst="rect">
            <a:avLst/>
          </a:prstGeom>
          <a:solidFill>
            <a:srgbClr val="1A1035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9144000" y="13716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&amp; Integration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9052560" y="1920240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052560" y="1920240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253728" y="192024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Vercel AI SDK</a:t>
            </a:r>
            <a:endParaRPr lang="en-US" sz="1300" dirty="0"/>
          </a:p>
        </p:txBody>
      </p:sp>
      <p:sp>
        <p:nvSpPr>
          <p:cNvPr id="66" name="Shape 64"/>
          <p:cNvSpPr/>
          <p:nvPr/>
        </p:nvSpPr>
        <p:spPr>
          <a:xfrm>
            <a:off x="9052560" y="2670048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9052560" y="2670048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9253728" y="2670048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Anthropic Claude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9052560" y="3419856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9052560" y="3419856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253728" y="3419856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OpenAI GPT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9052560" y="4169664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9052560" y="4169664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253728" y="4169664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Gemini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9052560" y="4919472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9052560" y="4919472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9253728" y="4919472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Handlebars</a:t>
            </a:r>
            <a:endParaRPr lang="en-US" sz="1300" dirty="0"/>
          </a:p>
        </p:txBody>
      </p:sp>
      <p:sp>
        <p:nvSpPr>
          <p:cNvPr id="78" name="Shape 76"/>
          <p:cNvSpPr/>
          <p:nvPr/>
        </p:nvSpPr>
        <p:spPr>
          <a:xfrm>
            <a:off x="9052560" y="5669280"/>
            <a:ext cx="2743200" cy="658368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9052560" y="5669280"/>
            <a:ext cx="64008" cy="658368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253728" y="5669280"/>
            <a:ext cx="2423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JSONata</a:t>
            </a:r>
            <a:endParaRPr lang="en-US" sz="1300" dirty="0"/>
          </a:p>
        </p:txBody>
      </p:sp>
      <p:sp>
        <p:nvSpPr>
          <p:cNvPr id="81" name="Shape 79"/>
          <p:cNvSpPr/>
          <p:nvPr/>
        </p:nvSpPr>
        <p:spPr>
          <a:xfrm>
            <a:off x="365760" y="6263640"/>
            <a:ext cx="11457432" cy="411480"/>
          </a:xfrm>
          <a:prstGeom prst="rect">
            <a:avLst/>
          </a:prstGeom>
          <a:solidFill>
            <a:srgbClr val="252B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7200" y="6281928"/>
            <a:ext cx="112745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Linted with Biome · Monitored with Sentry · Deployed on Vercel · Database on Neon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2030"/>
          </a:solidFill>
          <a:ln w="12700">
            <a:solidFill>
              <a:srgbClr val="1E20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88952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28600"/>
            <a:ext cx="1193292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46888"/>
            <a:ext cx="101041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457200" y="594360"/>
            <a:ext cx="6858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What's coming next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5577840" cy="1463040"/>
          </a:xfrm>
          <a:prstGeom prst="rect">
            <a:avLst/>
          </a:prstGeom>
          <a:solidFill>
            <a:srgbClr val="252B3B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325880"/>
            <a:ext cx="5577840" cy="45720"/>
          </a:xfrm>
          <a:prstGeom prst="rect">
            <a:avLst/>
          </a:prstGeom>
          <a:solidFill>
            <a:srgbClr val="FF7A00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435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📧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51560" y="14356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Gmail / SMTP Node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00600" y="1490472"/>
            <a:ext cx="1824228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508760"/>
            <a:ext cx="16413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48640" y="19202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and receive emails as workflow actions. Most-requested by SMB users.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5577840" cy="1463040"/>
          </a:xfrm>
          <a:prstGeom prst="rect">
            <a:avLst/>
          </a:prstGeom>
          <a:solidFill>
            <a:srgbClr val="252B3B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926080"/>
            <a:ext cx="5577840" cy="45720"/>
          </a:xfrm>
          <a:prstGeom prst="rect">
            <a:avLst/>
          </a:prstGeom>
          <a:solidFill>
            <a:srgbClr val="FF9736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0358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1051560" y="30358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Sheets Node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00600" y="3090672"/>
            <a:ext cx="1824228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FF973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3108960"/>
            <a:ext cx="16413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73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548640" y="35204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Read/write rows. Connects non-technical teams to live workflow data.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65760" y="4526280"/>
            <a:ext cx="5577840" cy="1463040"/>
          </a:xfrm>
          <a:prstGeom prst="rect">
            <a:avLst/>
          </a:prstGeom>
          <a:solidFill>
            <a:srgbClr val="252B3B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4526280"/>
            <a:ext cx="5577840" cy="4572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46360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💬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051560" y="46360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Business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800600" y="4690872"/>
            <a:ext cx="1824228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4709160"/>
            <a:ext cx="164134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 Priority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48640" y="51206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Send messages via Twilio. High value for client communication workflows.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81928" y="1325880"/>
            <a:ext cx="5577840" cy="1463040"/>
          </a:xfrm>
          <a:prstGeom prst="rect">
            <a:avLst/>
          </a:prstGeom>
          <a:solidFill>
            <a:srgbClr val="252B3B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81928" y="1325880"/>
            <a:ext cx="5577840" cy="4572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19088" y="143560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📋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67728" y="143560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Template Gallery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10716768" y="1490472"/>
            <a:ext cx="203454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808208" y="150876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B82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64808" y="192024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Pre-built workflows: Form→AI→Slack, Lead→Email, Payment→Notify.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81928" y="3017520"/>
            <a:ext cx="5577840" cy="1463040"/>
          </a:xfrm>
          <a:prstGeom prst="rect">
            <a:avLst/>
          </a:prstGeom>
          <a:solidFill>
            <a:srgbClr val="252B3B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281928" y="3017520"/>
            <a:ext cx="5577840" cy="457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19088" y="3127248"/>
            <a:ext cx="502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👥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6967728" y="312724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Workspaces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10716768" y="3182112"/>
            <a:ext cx="2034540" cy="274320"/>
          </a:xfrm>
          <a:prstGeom prst="rect">
            <a:avLst/>
          </a:prstGeom>
          <a:solidFill>
            <a:srgbClr val="2D3548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808208" y="3200400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Medium Priority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464808" y="3611880"/>
            <a:ext cx="52120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Multi-user with roles (admin, editor, viewer). Share workflows across teams.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6281928" y="4709160"/>
            <a:ext cx="5577840" cy="1920240"/>
          </a:xfrm>
          <a:prstGeom prst="rect">
            <a:avLst/>
          </a:prstGeom>
          <a:solidFill>
            <a:srgbClr val="2D3548"/>
          </a:solidFill>
          <a:ln w="12700">
            <a:solidFill>
              <a:srgbClr val="FF7A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92240" y="4828032"/>
            <a:ext cx="5166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0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 to Opportunities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492240" y="5303520"/>
            <a:ext cx="5166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Full-stack · Backend · AI Tooling · SaaS Products</a:t>
            </a:r>
            <a:endParaRPr lang="en-US" sz="1200" dirty="0"/>
          </a:p>
          <a:p>
            <a:pPr algn="ctr" indent="0" marL="0">
              <a:buNone/>
            </a:pP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This project demonstrates end-to-end SaaS delivery: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architecture, integrations, billing, and production ops — built solo.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Mindflow — Visual Workflow Automation</dc:title>
  <dc:subject>Recruiter Portfolio Presentation</dc:subject>
  <dc:creator>Yogesh Pawar</dc:creator>
  <cp:lastModifiedBy>Yogesh Pawar</cp:lastModifiedBy>
  <cp:revision>1</cp:revision>
  <dcterms:created xsi:type="dcterms:W3CDTF">2026-03-18T22:25:31Z</dcterms:created>
  <dcterms:modified xsi:type="dcterms:W3CDTF">2026-03-18T22:25:31Z</dcterms:modified>
</cp:coreProperties>
</file>